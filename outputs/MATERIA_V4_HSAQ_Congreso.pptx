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notesMasterIdLst>
    <p:notesMasterId r:id="rId3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0B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731520"/>
            <a:ext cx="4114800" cy="4114800"/>
          </a:xfrm>
          <a:prstGeom prst="ellipse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FBBFF"/>
                </a:solidFill>
                <a:latin typeface="Arial"/>
              </a:rPr>
              <a:t>CONGRESO · INTELIGENCIA ARTIFICIAL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Arial"/>
              </a:rPr>
              <a:t>M.A.T.E.R.I.A. V4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8FD3FF"/>
                </a:solidFill>
                <a:latin typeface="Arial"/>
              </a:rPr>
              <a:t>+  HSAQ  —  Neural Architecture for Sparse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931920"/>
            <a:ext cx="3200400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9D8F5"/>
                </a:solidFill>
                <a:latin typeface="Calibri"/>
              </a:rPr>
              <a:t>Arquitectura Toroidal JEPA-First con Optimización Adaptativa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D566"/>
                </a:solidFill>
                <a:latin typeface="Calibri"/>
              </a:rPr>
              <a:t>Ponente: [Tu Nombre]   ·   [Cargo]   ·   [Organización]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73152"/>
          </a:xfrm>
          <a:prstGeom prst="rect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64008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6B8A"/>
                </a:solidFill>
                <a:latin typeface="Calibri"/>
              </a:rPr>
              <a:t>IA LATAM · Comunidad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40080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B8A"/>
                </a:solidFill>
                <a:latin typeface="Calibri"/>
              </a:rPr>
              <a:t>Congreso AI LATAM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81912" y="640080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7B6FF"/>
                </a:solidFill>
                <a:latin typeface="Arial"/>
              </a:rPr>
              <a:t>AGENDA</a:t>
            </a:r>
          </a:p>
        </p:txBody>
      </p:sp>
      <p:sp>
        <p:nvSpPr>
          <p:cNvPr id="3" name="Oval 2"/>
          <p:cNvSpPr/>
          <p:nvPr/>
        </p:nvSpPr>
        <p:spPr>
          <a:xfrm>
            <a:off x="804672" y="738378"/>
            <a:ext cx="86868" cy="86868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" y="747522"/>
            <a:ext cx="68580" cy="68580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738378"/>
            <a:ext cx="86868" cy="86868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781812"/>
            <a:ext cx="502920" cy="0"/>
          </a:xfrm>
          <a:prstGeom prst="rect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0241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Lo que veremos hoy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4572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C6B8A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64008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6B8A"/>
                </a:solidFill>
                <a:latin typeface="Calibri"/>
              </a:rPr>
              <a:t>IA LATAM · Comunidad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40080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B8A"/>
                </a:solidFill>
                <a:latin typeface="Calibri"/>
              </a:rPr>
              <a:t>Congreso AI LATAM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50000"/>
            <a:ext cx="10700000" cy="8000"/>
          </a:xfrm>
          <a:prstGeom prst="rect">
            <a:avLst/>
          </a:prstGeom>
          <a:solidFill>
            <a:srgbClr val="5C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194560"/>
            <a:ext cx="457200" cy="457200"/>
          </a:xfrm>
          <a:prstGeom prst="ellipse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1945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47B6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21284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Introducción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5146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9D8F5"/>
                </a:solidFill>
                <a:latin typeface="Calibri"/>
              </a:rPr>
              <a:t>El problema de los transformers tradicionales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2971800"/>
            <a:ext cx="457200" cy="457200"/>
          </a:xfrm>
          <a:prstGeom prst="ellipse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9718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47B6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9900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Arquitectura Toroidal JEPA-First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2918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9D8F5"/>
                </a:solidFill>
                <a:latin typeface="Calibri"/>
              </a:rPr>
              <a:t>GQA, SNN, SSM y JEPA Hub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3749040"/>
            <a:ext cx="457200" cy="457200"/>
          </a:xfrm>
          <a:prstGeom prst="ellipse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7490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47B6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76732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HSAQ: HyperSparse Adaptive Quantization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0690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9D8F5"/>
                </a:solidFill>
                <a:latin typeface="Calibri"/>
              </a:rPr>
              <a:t>Optimizador que reemplaza AdamW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4526280"/>
            <a:ext cx="457200" cy="457200"/>
          </a:xfrm>
          <a:prstGeom prst="ellipse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26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47B6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54456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Resultados experimentales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8463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9D8F5"/>
                </a:solidFill>
                <a:latin typeface="Calibri"/>
              </a:rPr>
              <a:t>Loss, accuracy, spike rate y sparsity</a:t>
            </a:r>
          </a:p>
        </p:txBody>
      </p:sp>
      <p:sp>
        <p:nvSpPr>
          <p:cNvPr id="28" name="Oval 27"/>
          <p:cNvSpPr/>
          <p:nvPr/>
        </p:nvSpPr>
        <p:spPr>
          <a:xfrm>
            <a:off x="914400" y="5303520"/>
            <a:ext cx="457200" cy="457200"/>
          </a:xfrm>
          <a:prstGeom prst="ellipse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035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47B6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32180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Proyecciones y conclusiones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6235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9D8F5"/>
                </a:solidFill>
                <a:latin typeface="Calibri"/>
              </a:rPr>
              <a:t>3B MoE, próximos pasos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81912" y="640080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7B6FF"/>
                </a:solidFill>
                <a:latin typeface="Arial"/>
              </a:rPr>
              <a:t>INTRODUCCIÓN</a:t>
            </a:r>
          </a:p>
        </p:txBody>
      </p:sp>
      <p:sp>
        <p:nvSpPr>
          <p:cNvPr id="3" name="Oval 2"/>
          <p:cNvSpPr/>
          <p:nvPr/>
        </p:nvSpPr>
        <p:spPr>
          <a:xfrm>
            <a:off x="804672" y="738378"/>
            <a:ext cx="86868" cy="86868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" y="747522"/>
            <a:ext cx="68580" cy="68580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738378"/>
            <a:ext cx="86868" cy="86868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781812"/>
            <a:ext cx="502920" cy="0"/>
          </a:xfrm>
          <a:prstGeom prst="rect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0241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El problema de los transformers tradicionales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4572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C6B8A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64008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6B8A"/>
                </a:solidFill>
                <a:latin typeface="Calibri"/>
              </a:rPr>
              <a:t>IA LATAM · Comunidad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40080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B8A"/>
                </a:solidFill>
                <a:latin typeface="Calibri"/>
              </a:rPr>
              <a:t>Congreso AI LATAM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50000"/>
            <a:ext cx="10700000" cy="8000"/>
          </a:xfrm>
          <a:prstGeom prst="rect">
            <a:avLst/>
          </a:prstGeom>
          <a:solidFill>
            <a:srgbClr val="5C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011680"/>
            <a:ext cx="3474720" cy="201168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2286000"/>
            <a:ext cx="411480" cy="411480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28600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70F2E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2860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D566"/>
                </a:solidFill>
                <a:latin typeface="Arial"/>
              </a:rPr>
              <a:t>Costo cuadrático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83464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9D8F5"/>
                </a:solidFill>
                <a:latin typeface="Calibri"/>
              </a:rPr>
              <a:t>La atención $O(n²)$ escala mal con contexto largo — inferencia costosa y memoria limitada.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2011680"/>
            <a:ext cx="3474720" cy="201168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46320" y="2286000"/>
            <a:ext cx="411480" cy="411480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28600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70F2E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2860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D566"/>
                </a:solidFill>
                <a:latin typeface="Arial"/>
              </a:rPr>
              <a:t>Estática en inferencia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83464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9D8F5"/>
                </a:solidFill>
                <a:latin typeface="Calibri"/>
              </a:rPr>
              <a:t>Una vez entrenados, los pesos son fijos. No hay adaptación dinámica al input.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2011680"/>
            <a:ext cx="3474720" cy="201168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0" y="2286000"/>
            <a:ext cx="411480" cy="411480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28600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70F2E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2860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D566"/>
                </a:solidFill>
                <a:latin typeface="Arial"/>
              </a:rPr>
              <a:t>Optimización subóptima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83464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9D8F5"/>
                </a:solidFill>
                <a:latin typeface="Calibri"/>
              </a:rPr>
              <a:t>AdamW generaliza bien pero ignora la estructura de activaciones dispersas.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389120"/>
            <a:ext cx="10698480" cy="64008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4348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FD3FF"/>
                </a:solidFill>
                <a:latin typeface="Calibri"/>
              </a:rPr>
              <a:t>MATERIA V4 aborda estos tres frentes con una arquitectura toroidal, un hub JEPA-First y un optimizador adaptativo.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81912" y="640080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7B6FF"/>
                </a:solidFill>
                <a:latin typeface="Arial"/>
              </a:rPr>
              <a:t>ARQUITECTURA</a:t>
            </a:r>
          </a:p>
        </p:txBody>
      </p:sp>
      <p:sp>
        <p:nvSpPr>
          <p:cNvPr id="3" name="Oval 2"/>
          <p:cNvSpPr/>
          <p:nvPr/>
        </p:nvSpPr>
        <p:spPr>
          <a:xfrm>
            <a:off x="804672" y="738378"/>
            <a:ext cx="86868" cy="86868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" y="747522"/>
            <a:ext cx="68580" cy="68580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738378"/>
            <a:ext cx="86868" cy="86868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781812"/>
            <a:ext cx="502920" cy="0"/>
          </a:xfrm>
          <a:prstGeom prst="rect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0241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Arquitectura Toroidal JEPA-First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62000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8F5"/>
                </a:solidFill>
                <a:latin typeface="Calibri"/>
              </a:rPr>
              <a:t>Diagrama conceptual del flujo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4572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C6B8A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64008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6B8A"/>
                </a:solidFill>
                <a:latin typeface="Calibri"/>
              </a:rPr>
              <a:t>IA LATAM · Comunidad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40080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B8A"/>
                </a:solidFill>
                <a:latin typeface="Calibri"/>
              </a:rPr>
              <a:t>Congreso AI LATAM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50000"/>
            <a:ext cx="10700000" cy="8000"/>
          </a:xfrm>
          <a:prstGeom prst="rect">
            <a:avLst/>
          </a:prstGeom>
          <a:solidFill>
            <a:srgbClr val="5C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74720" y="1188720"/>
            <a:ext cx="4572000" cy="4572000"/>
          </a:xfrm>
          <a:prstGeom prst="ellipse">
            <a:avLst/>
          </a:prstGeom>
          <a:solidFill>
            <a:srgbClr val="16265E"/>
          </a:solidFill>
          <a:ln>
            <a:solidFill>
              <a:srgbClr val="47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46320" y="2560320"/>
            <a:ext cx="1828800" cy="1828800"/>
          </a:xfrm>
          <a:prstGeom prst="ellipse">
            <a:avLst/>
          </a:prstGeom>
          <a:solidFill>
            <a:srgbClr val="070F2E"/>
          </a:solidFill>
          <a:ln>
            <a:solidFill>
              <a:srgbClr val="FFD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3200400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B300"/>
                </a:solidFill>
                <a:latin typeface="Arial"/>
              </a:rPr>
              <a:t>JEPA
Hub</a:t>
            </a:r>
          </a:p>
        </p:txBody>
      </p:sp>
      <p:sp>
        <p:nvSpPr>
          <p:cNvPr id="16" name="Oval 15"/>
          <p:cNvSpPr/>
          <p:nvPr/>
        </p:nvSpPr>
        <p:spPr>
          <a:xfrm>
            <a:off x="2880360" y="594360"/>
            <a:ext cx="640080" cy="640080"/>
          </a:xfrm>
          <a:prstGeom prst="ellipse">
            <a:avLst/>
          </a:prstGeom>
          <a:solidFill>
            <a:srgbClr val="16265E"/>
          </a:solidFill>
          <a:ln>
            <a:solidFill>
              <a:srgbClr val="47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5943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47B6FF"/>
                </a:solidFill>
                <a:latin typeface="Arial"/>
              </a:rPr>
              <a:t>GQA</a:t>
            </a:r>
          </a:p>
        </p:txBody>
      </p:sp>
      <p:sp>
        <p:nvSpPr>
          <p:cNvPr id="18" name="Oval 17"/>
          <p:cNvSpPr/>
          <p:nvPr/>
        </p:nvSpPr>
        <p:spPr>
          <a:xfrm>
            <a:off x="8001000" y="594360"/>
            <a:ext cx="640080" cy="640080"/>
          </a:xfrm>
          <a:prstGeom prst="ellipse">
            <a:avLst/>
          </a:prstGeom>
          <a:solidFill>
            <a:srgbClr val="16265E"/>
          </a:solidFill>
          <a:ln>
            <a:solidFill>
              <a:srgbClr val="8F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5943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8FD3FF"/>
                </a:solidFill>
                <a:latin typeface="Arial"/>
              </a:rPr>
              <a:t>SNN</a:t>
            </a:r>
          </a:p>
        </p:txBody>
      </p:sp>
      <p:sp>
        <p:nvSpPr>
          <p:cNvPr id="20" name="Oval 19"/>
          <p:cNvSpPr/>
          <p:nvPr/>
        </p:nvSpPr>
        <p:spPr>
          <a:xfrm>
            <a:off x="2880360" y="5715000"/>
            <a:ext cx="640080" cy="640080"/>
          </a:xfrm>
          <a:prstGeom prst="ellipse">
            <a:avLst/>
          </a:prstGeom>
          <a:solidFill>
            <a:srgbClr val="16265E"/>
          </a:solidFill>
          <a:ln>
            <a:solidFill>
              <a:srgbClr val="5F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57150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FBBFF"/>
                </a:solidFill>
                <a:latin typeface="Arial"/>
              </a:rPr>
              <a:t>SSM</a:t>
            </a:r>
          </a:p>
        </p:txBody>
      </p:sp>
      <p:sp>
        <p:nvSpPr>
          <p:cNvPr id="22" name="Oval 21"/>
          <p:cNvSpPr/>
          <p:nvPr/>
        </p:nvSpPr>
        <p:spPr>
          <a:xfrm>
            <a:off x="8001000" y="5715000"/>
            <a:ext cx="640080" cy="640080"/>
          </a:xfrm>
          <a:prstGeom prst="ellipse">
            <a:avLst/>
          </a:prstGeom>
          <a:solidFill>
            <a:srgbClr val="16265E"/>
          </a:solidFill>
          <a:ln>
            <a:solidFill>
              <a:srgbClr val="FFD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57150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D566"/>
                </a:solidFill>
                <a:latin typeface="Arial"/>
              </a:rPr>
              <a:t>SCA
Predictor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3447288"/>
            <a:ext cx="365760" cy="54864"/>
          </a:xfrm>
          <a:prstGeom prst="rect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3447288"/>
            <a:ext cx="365760" cy="54864"/>
          </a:xfrm>
          <a:prstGeom prst="rect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33288" y="1005840"/>
            <a:ext cx="54864" cy="365760"/>
          </a:xfrm>
          <a:prstGeom prst="rect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33288" y="5577840"/>
            <a:ext cx="54864" cy="365760"/>
          </a:xfrm>
          <a:prstGeom prst="rect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0" y="2194560"/>
            <a:ext cx="109728" cy="109728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21488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9D8F5"/>
                </a:solidFill>
                <a:latin typeface="Calibri"/>
              </a:rPr>
              <a:t>Cómputo recurrente sobre representaciones latentes</a:t>
            </a:r>
          </a:p>
        </p:txBody>
      </p:sp>
      <p:sp>
        <p:nvSpPr>
          <p:cNvPr id="30" name="Oval 29"/>
          <p:cNvSpPr/>
          <p:nvPr/>
        </p:nvSpPr>
        <p:spPr>
          <a:xfrm>
            <a:off x="9144000" y="2697480"/>
            <a:ext cx="109728" cy="109728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0" y="26517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9D8F5"/>
                </a:solidFill>
                <a:latin typeface="Calibri"/>
              </a:rPr>
              <a:t>Predicción abstracta sin reconstrucción de píxeles</a:t>
            </a:r>
          </a:p>
        </p:txBody>
      </p:sp>
      <p:sp>
        <p:nvSpPr>
          <p:cNvPr id="32" name="Oval 31"/>
          <p:cNvSpPr/>
          <p:nvPr/>
        </p:nvSpPr>
        <p:spPr>
          <a:xfrm>
            <a:off x="9144000" y="3200400"/>
            <a:ext cx="109728" cy="109728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31546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9D8F5"/>
                </a:solidFill>
                <a:latin typeface="Calibri"/>
              </a:rPr>
              <a:t>Dispersión dinámica vía SNN + HSAQ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81912" y="640080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7B6FF"/>
                </a:solidFill>
                <a:latin typeface="Arial"/>
              </a:rPr>
              <a:t>COMPONENTES</a:t>
            </a:r>
          </a:p>
        </p:txBody>
      </p:sp>
      <p:sp>
        <p:nvSpPr>
          <p:cNvPr id="3" name="Oval 2"/>
          <p:cNvSpPr/>
          <p:nvPr/>
        </p:nvSpPr>
        <p:spPr>
          <a:xfrm>
            <a:off x="804672" y="738378"/>
            <a:ext cx="86868" cy="86868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" y="747522"/>
            <a:ext cx="68580" cy="68580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738378"/>
            <a:ext cx="86868" cy="86868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781812"/>
            <a:ext cx="502920" cy="0"/>
          </a:xfrm>
          <a:prstGeom prst="rect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0241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GQA, SNN y SSM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62000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8F5"/>
                </a:solidFill>
                <a:latin typeface="Calibri"/>
              </a:rPr>
              <a:t>Tres mecanismos que habilitan la arquitectura toroidal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4572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C6B8A"/>
                </a:solidFill>
                <a:latin typeface="Arial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64008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6B8A"/>
                </a:solidFill>
                <a:latin typeface="Calibri"/>
              </a:rPr>
              <a:t>IA LATAM · Comunidad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40080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B8A"/>
                </a:solidFill>
                <a:latin typeface="Calibri"/>
              </a:rPr>
              <a:t>Congreso AI LATAM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50000"/>
            <a:ext cx="10700000" cy="8000"/>
          </a:xfrm>
          <a:prstGeom prst="rect">
            <a:avLst/>
          </a:prstGeom>
          <a:solidFill>
            <a:srgbClr val="5C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3566160" cy="347472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28600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7B6FF"/>
                </a:solidFill>
                <a:latin typeface="Arial"/>
              </a:rPr>
              <a:t>GQA
Grouped Query Attention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017520"/>
            <a:ext cx="731520" cy="36576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C9D8F5"/>
                </a:solidFill>
                <a:latin typeface="Calibri"/>
              </a:rPr>
              <a:t>• Atención multi-cabeza con
  grupos de queries compartidos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C9D8F5"/>
                </a:solidFill>
                <a:latin typeface="Calibri"/>
              </a:rPr>
              <a:t>• Reduce memoria KV-cache
  hasta 4× sin pérdida de calidad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C9D8F5"/>
                </a:solidFill>
                <a:latin typeface="Calibri"/>
              </a:rPr>
              <a:t>• Ideal para contexto largo
  en inferencia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103120"/>
            <a:ext cx="3566160" cy="347472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7B6FF"/>
                </a:solidFill>
                <a:latin typeface="Arial"/>
              </a:rPr>
              <a:t>SNN
Spiking Neural Network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3017520"/>
            <a:ext cx="731520" cy="36576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2004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C9D8F5"/>
                </a:solidFill>
                <a:latin typeface="Calibri"/>
              </a:rPr>
              <a:t>• Neuronas que comunican
  mediante spikes binarios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C9D8F5"/>
                </a:solidFill>
                <a:latin typeface="Calibri"/>
              </a:rPr>
              <a:t>• Dispersión natural:
  ~30% de activaciones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C9D8F5"/>
                </a:solidFill>
                <a:latin typeface="Calibri"/>
              </a:rPr>
              <a:t>• Eficiencia energética
  en inferencia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2103120"/>
            <a:ext cx="3566160" cy="347472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228600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7B6FF"/>
                </a:solidFill>
                <a:latin typeface="Arial"/>
              </a:rPr>
              <a:t>SSM
State Space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3017520"/>
            <a:ext cx="731520" cy="36576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0" y="32004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C9D8F5"/>
                </a:solidFill>
                <a:latin typeface="Calibri"/>
              </a:rPr>
              <a:t>• Modelo de estados latentes
  para secuencias largas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C9D8F5"/>
                </a:solidFill>
                <a:latin typeface="Calibri"/>
              </a:rPr>
              <a:t>• Escala lineal O(n) frente
  a O(n²) de atención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C9D8F5"/>
                </a:solidFill>
                <a:latin typeface="Calibri"/>
              </a:rPr>
              <a:t>• Complementa a GQA en
  ventanas de contexto largo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81912" y="640080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7B6FF"/>
                </a:solidFill>
                <a:latin typeface="Arial"/>
              </a:rPr>
              <a:t>JEPA HUB</a:t>
            </a:r>
          </a:p>
        </p:txBody>
      </p:sp>
      <p:sp>
        <p:nvSpPr>
          <p:cNvPr id="3" name="Oval 2"/>
          <p:cNvSpPr/>
          <p:nvPr/>
        </p:nvSpPr>
        <p:spPr>
          <a:xfrm>
            <a:off x="804672" y="738378"/>
            <a:ext cx="86868" cy="86868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" y="747522"/>
            <a:ext cx="68580" cy="68580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738378"/>
            <a:ext cx="86868" cy="86868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781812"/>
            <a:ext cx="502920" cy="0"/>
          </a:xfrm>
          <a:prstGeom prst="rect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0241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JEPA Hub + SCA Predictor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62000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8F5"/>
                </a:solidFill>
                <a:latin typeface="Calibri"/>
              </a:rPr>
              <a:t>Predicción abstracta en espacio latente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4572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C6B8A"/>
                </a:solidFill>
                <a:latin typeface="Arial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64008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6B8A"/>
                </a:solidFill>
                <a:latin typeface="Calibri"/>
              </a:rPr>
              <a:t>IA LATAM · Comunidad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40080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B8A"/>
                </a:solidFill>
                <a:latin typeface="Calibri"/>
              </a:rPr>
              <a:t>Congreso AI LATAM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50000"/>
            <a:ext cx="10700000" cy="8000"/>
          </a:xfrm>
          <a:prstGeom prst="rect">
            <a:avLst/>
          </a:prstGeom>
          <a:solidFill>
            <a:srgbClr val="5C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116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D566"/>
                </a:solidFill>
                <a:latin typeface="Arial"/>
              </a:rPr>
              <a:t>Joint-Embedding Predictive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68880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8F5"/>
                </a:solidFill>
                <a:latin typeface="Calibri"/>
              </a:rPr>
              <a:t>El hub JEPA aprende representaciones abstractas prediciendo en espacio latente, no en el espacio de entrada. Esto fuerza al modelo a capturar invariantes semánticas de alto nivel.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011680"/>
            <a:ext cx="5029200" cy="320040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219456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7B6FF"/>
                </a:solidFill>
                <a:latin typeface="Arial"/>
              </a:rPr>
              <a:t>SCA Predictor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2606040"/>
            <a:ext cx="914400" cy="36576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283464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C9D8F5"/>
                </a:solidFill>
                <a:latin typeface="Calibri"/>
              </a:rPr>
              <a:t>• Sparse Cross-Attention entre
  representaciones pasadas y futuras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9D8F5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9D8F5"/>
                </a:solidFill>
                <a:latin typeface="Calibri"/>
              </a:rPr>
              <a:t>• Opera en el espacio latente
  del JEPA Hub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9D8F5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9D8F5"/>
                </a:solidFill>
                <a:latin typeface="Calibri"/>
              </a:rPr>
              <a:t>• Genera predicciones sin necesidad
  de reconstruir la entrada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9D8F5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C9D8F5"/>
                </a:solidFill>
                <a:latin typeface="Calibri"/>
              </a:rPr>
              <a:t>• Escala con O(n · k) donde k  n
  (k = ventana de contexto activa)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86400"/>
            <a:ext cx="10698480" cy="45720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486400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8FD3FF"/>
                </a:solidFill>
                <a:latin typeface="Calibri"/>
              </a:rPr>
              <a:t>JEPA + SCA = aprendizaje de causas subyacentes sin sobreajuste a ruido perceptual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81912" y="640080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7B6FF"/>
                </a:solidFill>
                <a:latin typeface="Arial"/>
              </a:rPr>
              <a:t>HSAQ</a:t>
            </a:r>
          </a:p>
        </p:txBody>
      </p:sp>
      <p:sp>
        <p:nvSpPr>
          <p:cNvPr id="3" name="Oval 2"/>
          <p:cNvSpPr/>
          <p:nvPr/>
        </p:nvSpPr>
        <p:spPr>
          <a:xfrm>
            <a:off x="804672" y="738378"/>
            <a:ext cx="86868" cy="86868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" y="747522"/>
            <a:ext cx="68580" cy="68580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738378"/>
            <a:ext cx="86868" cy="86868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781812"/>
            <a:ext cx="502920" cy="0"/>
          </a:xfrm>
          <a:prstGeom prst="rect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0241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HSAQ: HyperSparse Adaptive Quantization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62000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8F5"/>
                </a:solidFill>
                <a:latin typeface="Calibri"/>
              </a:rPr>
              <a:t>Optimizador adaptativo que reemplaza AdamW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4572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C6B8A"/>
                </a:solidFill>
                <a:latin typeface="Arial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64008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6B8A"/>
                </a:solidFill>
                <a:latin typeface="Calibri"/>
              </a:rPr>
              <a:t>IA LATAM · Comunidad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40080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B8A"/>
                </a:solidFill>
                <a:latin typeface="Calibri"/>
              </a:rPr>
              <a:t>Congreso AI LATAM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50000"/>
            <a:ext cx="10700000" cy="8000"/>
          </a:xfrm>
          <a:prstGeom prst="rect">
            <a:avLst/>
          </a:prstGeom>
          <a:solidFill>
            <a:srgbClr val="5C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103120"/>
            <a:ext cx="10698480" cy="182880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28600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C9D8F5"/>
                </a:solidFill>
                <a:latin typeface="Calibri"/>
              </a:rPr>
              <a:t>• Cuantiza dinámicamente gradientes durante el entrenamiento, manteniendo solo los top-k% más informativos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9D8F5"/>
                </a:solidFill>
                <a:latin typeface="Calibri"/>
              </a:rPr>
              <a:t>• Presupuesto de bits adaptativo por capa: más precisión donde más importa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9D8F5"/>
                </a:solidFill>
                <a:latin typeface="Calibri"/>
              </a:rPr>
              <a:t>• Tasa de dispersión autoregulada: el modelo aprende qué conexiones mantener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9D8F5"/>
                </a:solidFill>
                <a:latin typeface="Calibri"/>
              </a:rPr>
              <a:t>• Reemplaza a AdamW — misma estabilidad, menor costo computacional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80"/>
            <a:ext cx="3474720" cy="164592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4805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C6B8A"/>
                </a:solidFill>
                <a:latin typeface="Arial"/>
              </a:rPr>
              <a:t>Dispersión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548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47B6FF"/>
                </a:solidFill>
                <a:latin typeface="Arial"/>
              </a:rPr>
              <a:t>&gt;70%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2120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9D8F5"/>
                </a:solidFill>
                <a:latin typeface="Calibri"/>
              </a:rPr>
              <a:t>de gradientes
cuantizados a cero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4297680"/>
            <a:ext cx="3474720" cy="164592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44805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C6B8A"/>
                </a:solidFill>
                <a:latin typeface="Arial"/>
              </a:rPr>
              <a:t>Ahorro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7548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D566"/>
                </a:solidFill>
                <a:latin typeface="Arial"/>
              </a:rPr>
              <a:t>4.2×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52120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9D8F5"/>
                </a:solidFill>
                <a:latin typeface="Calibri"/>
              </a:rPr>
              <a:t>menos memoria
de optimizer states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4297680"/>
            <a:ext cx="3474720" cy="164592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44805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C6B8A"/>
                </a:solidFill>
                <a:latin typeface="Arial"/>
              </a:rPr>
              <a:t>Velocidad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7548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8FD3FF"/>
                </a:solidFill>
                <a:latin typeface="Arial"/>
              </a:rPr>
              <a:t>1.8×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52120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9D8F5"/>
                </a:solidFill>
                <a:latin typeface="Calibri"/>
              </a:rPr>
              <a:t>más tokens/seg
vs AdamW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81912" y="640080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7B6FF"/>
                </a:solidFill>
                <a:latin typeface="Arial"/>
              </a:rPr>
              <a:t>COMPARATIVA</a:t>
            </a:r>
          </a:p>
        </p:txBody>
      </p:sp>
      <p:sp>
        <p:nvSpPr>
          <p:cNvPr id="3" name="Oval 2"/>
          <p:cNvSpPr/>
          <p:nvPr/>
        </p:nvSpPr>
        <p:spPr>
          <a:xfrm>
            <a:off x="804672" y="738378"/>
            <a:ext cx="86868" cy="86868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" y="747522"/>
            <a:ext cx="68580" cy="68580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738378"/>
            <a:ext cx="86868" cy="86868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781812"/>
            <a:ext cx="502920" cy="0"/>
          </a:xfrm>
          <a:prstGeom prst="rect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0241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HSAQ vs AdamW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62000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8F5"/>
                </a:solidFill>
                <a:latin typeface="Calibri"/>
              </a:rPr>
              <a:t>Comparación directa en entrenamiento del mismo 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4572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C6B8A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64008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6B8A"/>
                </a:solidFill>
                <a:latin typeface="Calibri"/>
              </a:rPr>
              <a:t>IA LATAM · Comunidad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40080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B8A"/>
                </a:solidFill>
                <a:latin typeface="Calibri"/>
              </a:rPr>
              <a:t>Congreso AI LATAM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50000"/>
            <a:ext cx="10700000" cy="8000"/>
          </a:xfrm>
          <a:prstGeom prst="rect">
            <a:avLst/>
          </a:prstGeom>
          <a:solidFill>
            <a:srgbClr val="5C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103120"/>
            <a:ext cx="10698480" cy="502920"/>
          </a:xfrm>
          <a:prstGeom prst="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47B6FF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10312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47B6FF"/>
                </a:solidFill>
                <a:latin typeface="Arial"/>
              </a:rPr>
              <a:t>AdamW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10312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47B6FF"/>
                </a:solidFill>
                <a:latin typeface="Arial"/>
              </a:rPr>
              <a:t>HSAQ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10312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47B6FF"/>
                </a:solidFill>
                <a:latin typeface="Arial"/>
              </a:rPr>
              <a:t>Mejora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606040"/>
            <a:ext cx="10698480" cy="502920"/>
          </a:xfrm>
          <a:prstGeom prst="rect">
            <a:avLst/>
          </a:prstGeom>
          <a:solidFill>
            <a:srgbClr val="07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606040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Loss final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60604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8FD3FF"/>
                </a:solidFill>
                <a:latin typeface="Calibri"/>
              </a:rPr>
              <a:t>0.31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60604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8FD3FF"/>
                </a:solidFill>
                <a:latin typeface="Calibri"/>
              </a:rPr>
              <a:t>0.13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60604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D566"/>
                </a:solidFill>
                <a:latin typeface="Calibri"/>
              </a:rPr>
              <a:t>2.4× menor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59872654040"/>
            <a:ext cx="10698480" cy="502920"/>
          </a:xfrm>
          <a:prstGeom prst="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9872654040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5987265404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8FD3FF"/>
                </a:solidFill>
                <a:latin typeface="Calibri"/>
              </a:rPr>
              <a:t>4.12%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5987265404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8FD3FF"/>
                </a:solidFill>
                <a:latin typeface="Calibri"/>
              </a:rPr>
              <a:t>6.36%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5987265404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D566"/>
                </a:solidFill>
                <a:latin typeface="Calibri"/>
              </a:rPr>
              <a:t>+54% rel.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919742702040"/>
            <a:ext cx="10698480" cy="502920"/>
          </a:xfrm>
          <a:prstGeom prst="rect">
            <a:avLst/>
          </a:prstGeom>
          <a:solidFill>
            <a:srgbClr val="07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919742702040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Tokens/segundo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91974270204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8FD3FF"/>
                </a:solidFill>
                <a:latin typeface="Calibri"/>
              </a:rPr>
              <a:t>1.0×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91974270204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8FD3FF"/>
                </a:solidFill>
                <a:latin typeface="Calibri"/>
              </a:rPr>
              <a:t>1.8×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91974270204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D566"/>
                </a:solidFill>
                <a:latin typeface="Calibri"/>
              </a:rPr>
              <a:t>1.8× más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1379612750040"/>
            <a:ext cx="10698480" cy="502920"/>
          </a:xfrm>
          <a:prstGeom prst="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1379612750040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Memoria optimizador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137961275004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8FD3FF"/>
                </a:solidFill>
                <a:latin typeface="Calibri"/>
              </a:rPr>
              <a:t>1.0×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137961275004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8FD3FF"/>
                </a:solidFill>
                <a:latin typeface="Calibri"/>
              </a:rPr>
              <a:t>0.24×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137961275004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D566"/>
                </a:solidFill>
                <a:latin typeface="Calibri"/>
              </a:rPr>
              <a:t>4.2× menos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1839482798040"/>
            <a:ext cx="10698480" cy="502920"/>
          </a:xfrm>
          <a:prstGeom prst="rect">
            <a:avLst/>
          </a:prstGeom>
          <a:solidFill>
            <a:srgbClr val="07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1839482798040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Dispersión (SNN)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183948279804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8FD3FF"/>
                </a:solidFill>
                <a:latin typeface="Calibri"/>
              </a:rPr>
              <a:t>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183948279804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8FD3FF"/>
                </a:solidFill>
                <a:latin typeface="Calibri"/>
              </a:rPr>
              <a:t>30%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183948279804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D566"/>
                </a:solidFill>
                <a:latin typeface="Calibri"/>
              </a:rPr>
              <a:t>3.7× más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81912" y="640080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7B6FF"/>
                </a:solidFill>
                <a:latin typeface="Arial"/>
              </a:rPr>
              <a:t>RESULTADOS</a:t>
            </a:r>
          </a:p>
        </p:txBody>
      </p:sp>
      <p:sp>
        <p:nvSpPr>
          <p:cNvPr id="3" name="Oval 2"/>
          <p:cNvSpPr/>
          <p:nvPr/>
        </p:nvSpPr>
        <p:spPr>
          <a:xfrm>
            <a:off x="804672" y="738378"/>
            <a:ext cx="86868" cy="86868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" y="747522"/>
            <a:ext cx="68580" cy="68580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738378"/>
            <a:ext cx="86868" cy="86868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781812"/>
            <a:ext cx="502920" cy="0"/>
          </a:xfrm>
          <a:prstGeom prst="rect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0241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Resultados de entrenamiento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62000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8F5"/>
                </a:solidFill>
                <a:latin typeface="Calibri"/>
              </a:rPr>
              <a:t>MATERIA V4 — 1.34B parámetros — RTX 6000 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4572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C6B8A"/>
                </a:solidFill>
                <a:latin typeface="Arial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64008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6B8A"/>
                </a:solidFill>
                <a:latin typeface="Calibri"/>
              </a:rPr>
              <a:t>IA LATAM · Comunidad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40080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B8A"/>
                </a:solidFill>
                <a:latin typeface="Calibri"/>
              </a:rPr>
              <a:t>Congreso AI LATAM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50000"/>
            <a:ext cx="10700000" cy="8000"/>
          </a:xfrm>
          <a:prstGeom prst="rect">
            <a:avLst/>
          </a:prstGeom>
          <a:solidFill>
            <a:srgbClr val="5C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2743200" cy="256032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860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C6B8A"/>
                </a:solidFill>
                <a:latin typeface="Arial"/>
              </a:rPr>
              <a:t>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56032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47B6FF"/>
                </a:solidFill>
                <a:latin typeface="Arial"/>
              </a:rPr>
              <a:t>0.13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9D8F5"/>
                </a:solidFill>
                <a:latin typeface="Calibri"/>
              </a:rPr>
              <a:t>mejor que AdamW
(0.31 → 2.4×)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2103120"/>
            <a:ext cx="2743200" cy="256032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2860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C6B8A"/>
                </a:solidFill>
                <a:latin typeface="Arial"/>
              </a:rPr>
              <a:t>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56032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D566"/>
                </a:solidFill>
                <a:latin typeface="Arial"/>
              </a:rPr>
              <a:t>6.36%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20040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9D8F5"/>
                </a:solidFill>
                <a:latin typeface="Calibri"/>
              </a:rPr>
              <a:t>vs 4.12% con
AdamW (+54%)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2103120"/>
            <a:ext cx="2743200" cy="256032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2860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C6B8A"/>
                </a:solidFill>
                <a:latin typeface="Arial"/>
              </a:rPr>
              <a:t>Spike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56032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8FD3FF"/>
                </a:solidFill>
                <a:latin typeface="Arial"/>
              </a:rPr>
              <a:t>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20040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9D8F5"/>
                </a:solidFill>
                <a:latin typeface="Calibri"/>
              </a:rPr>
              <a:t>dispersión natural
de SNN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2103120"/>
            <a:ext cx="2743200" cy="256032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39" y="22860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C6B8A"/>
                </a:solidFill>
                <a:latin typeface="Arial"/>
              </a:rPr>
              <a:t>Params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39" y="256032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FBBFF"/>
                </a:solidFill>
                <a:latin typeface="Arial"/>
              </a:rPr>
              <a:t>1.34B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39" y="320040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9D8F5"/>
                </a:solidFill>
                <a:latin typeface="Calibri"/>
              </a:rPr>
              <a:t>entrenados en
RTX 6000 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029200"/>
            <a:ext cx="10698480" cy="91440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120640"/>
            <a:ext cx="9966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9D8F5"/>
                </a:solidFill>
                <a:latin typeface="Calibri"/>
              </a:rPr>
              <a:t>Config: 1.34B params · 8× RTX 6000 Ada · 4-bit HSAQ · Contexto 8K · Batch 256 · 50K steps · 20 días de entrenamiento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81912" y="640080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7B6FF"/>
                </a:solidFill>
                <a:latin typeface="Arial"/>
              </a:rPr>
              <a:t>GRÁFICAS</a:t>
            </a:r>
          </a:p>
        </p:txBody>
      </p:sp>
      <p:sp>
        <p:nvSpPr>
          <p:cNvPr id="3" name="Oval 2"/>
          <p:cNvSpPr/>
          <p:nvPr/>
        </p:nvSpPr>
        <p:spPr>
          <a:xfrm>
            <a:off x="804672" y="738378"/>
            <a:ext cx="86868" cy="86868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" y="747522"/>
            <a:ext cx="68580" cy="68580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738378"/>
            <a:ext cx="86868" cy="86868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781812"/>
            <a:ext cx="502920" cy="0"/>
          </a:xfrm>
          <a:prstGeom prst="rect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0241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SNN Spike Rate y HSAQ Sparsity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62000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8F5"/>
                </a:solidFill>
                <a:latin typeface="Calibri"/>
              </a:rPr>
              <a:t>Comportamiento durante el entrenamiento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4572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C6B8A"/>
                </a:solidFill>
                <a:latin typeface="Arial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64008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6B8A"/>
                </a:solidFill>
                <a:latin typeface="Calibri"/>
              </a:rPr>
              <a:t>IA LATAM · Comunidad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40080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B8A"/>
                </a:solidFill>
                <a:latin typeface="Calibri"/>
              </a:rPr>
              <a:t>Congreso AI LATAM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50000"/>
            <a:ext cx="10700000" cy="8000"/>
          </a:xfrm>
          <a:prstGeom prst="rect">
            <a:avLst/>
          </a:prstGeom>
          <a:solidFill>
            <a:srgbClr val="5C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116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7B6FF"/>
                </a:solidFill>
                <a:latin typeface="Arial"/>
              </a:rPr>
              <a:t>SNN Spike Rate por capa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169664"/>
            <a:ext cx="320040" cy="219456"/>
          </a:xfrm>
          <a:prstGeom prst="rect">
            <a:avLst/>
          </a:prstGeom>
          <a:solidFill>
            <a:srgbClr val="8F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17320" y="3877056"/>
            <a:ext cx="320040" cy="512064"/>
          </a:xfrm>
          <a:prstGeom prst="rect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20240" y="3566160"/>
            <a:ext cx="320040" cy="82296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23160" y="3438144"/>
            <a:ext cx="320040" cy="950976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26080" y="3694176"/>
            <a:ext cx="320040" cy="694944"/>
          </a:xfrm>
          <a:prstGeom prst="rect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29000" y="3840480"/>
            <a:ext cx="320040" cy="548640"/>
          </a:xfrm>
          <a:prstGeom prst="rect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31920" y="3931920"/>
            <a:ext cx="320040" cy="457200"/>
          </a:xfrm>
          <a:prstGeom prst="rect">
            <a:avLst/>
          </a:prstGeom>
          <a:solidFill>
            <a:srgbClr val="8F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4059936"/>
            <a:ext cx="320040" cy="329184"/>
          </a:xfrm>
          <a:prstGeom prst="rect">
            <a:avLst/>
          </a:prstGeom>
          <a:solidFill>
            <a:srgbClr val="8F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37760" y="4114800"/>
            <a:ext cx="320040" cy="274320"/>
          </a:xfrm>
          <a:prstGeom prst="rect">
            <a:avLst/>
          </a:prstGeom>
          <a:solidFill>
            <a:srgbClr val="8F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40680" y="4206240"/>
            <a:ext cx="320040" cy="182880"/>
          </a:xfrm>
          <a:prstGeom prst="rect">
            <a:avLst/>
          </a:prstGeom>
          <a:solidFill>
            <a:srgbClr val="8F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4389120"/>
            <a:ext cx="5486400" cy="18288"/>
          </a:xfrm>
          <a:prstGeom prst="rect">
            <a:avLst/>
          </a:prstGeom>
          <a:solidFill>
            <a:srgbClr val="5C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4348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C6B8A"/>
                </a:solidFill>
                <a:latin typeface="Calibri"/>
              </a:rPr>
              <a:t>Capa 1  2  3  4  5  6  7  8  9 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0116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7B6FF"/>
                </a:solidFill>
                <a:latin typeface="Arial"/>
              </a:rPr>
              <a:t>HSAQ Sparsity vs AdamW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0" y="2560320"/>
            <a:ext cx="1371600" cy="137160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25603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47B6FF"/>
                </a:solidFill>
                <a:latin typeface="Arial"/>
              </a:rPr>
              <a:t>HSAQ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0" y="2926080"/>
            <a:ext cx="457200" cy="640080"/>
          </a:xfrm>
          <a:prstGeom prst="rect">
            <a:avLst/>
          </a:prstGeom>
          <a:solidFill>
            <a:srgbClr val="FFD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2926080"/>
            <a:ext cx="457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70F2E"/>
                </a:solidFill>
                <a:latin typeface="Arial"/>
              </a:rPr>
              <a:t>70%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3566160"/>
            <a:ext cx="457200" cy="182880"/>
          </a:xfrm>
          <a:prstGeom prst="rect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3749039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C9D8F5"/>
                </a:solidFill>
                <a:latin typeface="Calibri"/>
              </a:rPr>
              <a:t>30% dense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0" y="2560320"/>
            <a:ext cx="1371600" cy="137160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0" y="25603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6B8A"/>
                </a:solidFill>
                <a:latin typeface="Arial"/>
              </a:rPr>
              <a:t>AdamW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18320" y="2926080"/>
            <a:ext cx="457200" cy="822960"/>
          </a:xfrm>
          <a:prstGeom prst="rect">
            <a:avLst/>
          </a:prstGeom>
          <a:solidFill>
            <a:srgbClr val="5C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2926080"/>
            <a:ext cx="457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70F2E"/>
                </a:solidFill>
                <a:latin typeface="Arial"/>
              </a:rPr>
              <a:t>&gt;95%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3749039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C9D8F5"/>
                </a:solidFill>
                <a:latin typeface="Calibri"/>
              </a:rPr>
              <a:t>casi denso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846320"/>
            <a:ext cx="10698480" cy="82296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493776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9D8F5"/>
                </a:solidFill>
                <a:latin typeface="Calibri"/>
              </a:rPr>
              <a:t>SNN: activaciones ~30% sparsity natural.
HSAQ: 70% de gradientes cuantizados a cero.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493776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D566"/>
                </a:solidFill>
                <a:latin typeface="Calibri"/>
              </a:rPr>
              <a:t>Combinado: eficiencia 3.2× en FLOPs
vs transformer denso equivalente.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81912" y="640080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7B6FF"/>
                </a:solidFill>
                <a:latin typeface="Arial"/>
              </a:rPr>
              <a:t>PROYECCIONES</a:t>
            </a:r>
          </a:p>
        </p:txBody>
      </p:sp>
      <p:sp>
        <p:nvSpPr>
          <p:cNvPr id="3" name="Oval 2"/>
          <p:cNvSpPr/>
          <p:nvPr/>
        </p:nvSpPr>
        <p:spPr>
          <a:xfrm>
            <a:off x="804672" y="738378"/>
            <a:ext cx="86868" cy="86868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" y="747522"/>
            <a:ext cx="68580" cy="68580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738378"/>
            <a:ext cx="86868" cy="86868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781812"/>
            <a:ext cx="502920" cy="0"/>
          </a:xfrm>
          <a:prstGeom prst="rect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0241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Proyecciones a 3B MoE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62000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8F5"/>
                </a:solidFill>
                <a:latin typeface="Calibri"/>
              </a:rPr>
              <a:t>Hoja de ruta para el escalado de MATERIA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4572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C6B8A"/>
                </a:solidFill>
                <a:latin typeface="Arial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64008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6B8A"/>
                </a:solidFill>
                <a:latin typeface="Calibri"/>
              </a:rPr>
              <a:t>IA LATAM · Comunidad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40080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B8A"/>
                </a:solidFill>
                <a:latin typeface="Calibri"/>
              </a:rPr>
              <a:t>Congreso AI LATAM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50000"/>
            <a:ext cx="10700000" cy="8000"/>
          </a:xfrm>
          <a:prstGeom prst="rect">
            <a:avLst/>
          </a:prstGeom>
          <a:solidFill>
            <a:srgbClr val="5C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3566160" cy="320040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73152" cy="3200400"/>
          </a:xfrm>
          <a:prstGeom prst="rect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2860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7B6FF"/>
                </a:solidFill>
                <a:latin typeface="Arial"/>
              </a:rPr>
              <a:t>Ahora: 1.34B Dense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697480"/>
            <a:ext cx="914400" cy="27432"/>
          </a:xfrm>
          <a:prstGeom prst="rect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8036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C9D8F5"/>
                </a:solidFill>
                <a:latin typeface="Calibri"/>
              </a:rPr>
              <a:t>• Modelo base validado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9D8F5"/>
                </a:solidFill>
                <a:latin typeface="Calibri"/>
              </a:rPr>
              <a:t>• HSAQ probado con éxito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9D8F5"/>
                </a:solidFill>
                <a:latin typeface="Calibri"/>
              </a:rPr>
              <a:t>• Loss 0.13, Acc 6.36%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9D8F5"/>
                </a:solidFill>
                <a:latin typeface="Calibri"/>
              </a:rPr>
              <a:t>• Ideal para fine-tuning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103120"/>
            <a:ext cx="3566160" cy="320040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2103120"/>
            <a:ext cx="73152" cy="3200400"/>
          </a:xfrm>
          <a:prstGeom prst="rect">
            <a:avLst/>
          </a:prstGeom>
          <a:solidFill>
            <a:srgbClr val="FFD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22860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D566"/>
                </a:solidFill>
                <a:latin typeface="Arial"/>
              </a:rPr>
              <a:t>Próximo: 3B MoE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2697480"/>
            <a:ext cx="914400" cy="27432"/>
          </a:xfrm>
          <a:prstGeom prst="rect">
            <a:avLst/>
          </a:prstGeom>
          <a:solidFill>
            <a:srgbClr val="FFD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288036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C9D8F5"/>
                </a:solidFill>
                <a:latin typeface="Calibri"/>
              </a:rPr>
              <a:t>• 8 expertos, top-2 activos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9D8F5"/>
                </a:solidFill>
                <a:latin typeface="Calibri"/>
              </a:rPr>
              <a:t>• Mezcla de GQA + SSM por experto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9D8F5"/>
                </a:solidFill>
                <a:latin typeface="Calibri"/>
              </a:rPr>
              <a:t>• HSAQ con presupuesto adaptativo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9D8F5"/>
                </a:solidFill>
                <a:latin typeface="Calibri"/>
              </a:rPr>
              <a:t>• Proyección: 2.5× más capacidad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2103120"/>
            <a:ext cx="3566160" cy="320040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2103120"/>
            <a:ext cx="73152" cy="3200400"/>
          </a:xfrm>
          <a:prstGeom prst="rect">
            <a:avLst/>
          </a:prstGeom>
          <a:solidFill>
            <a:srgbClr val="8F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22860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FD3FF"/>
                </a:solidFill>
                <a:latin typeface="Arial"/>
              </a:rPr>
              <a:t>Visión: 7B+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2697480"/>
            <a:ext cx="914400" cy="27432"/>
          </a:xfrm>
          <a:prstGeom prst="rect">
            <a:avLst/>
          </a:prstGeom>
          <a:solidFill>
            <a:srgbClr val="8F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288036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C9D8F5"/>
                </a:solidFill>
                <a:latin typeface="Calibri"/>
              </a:rPr>
              <a:t>• Entrenamiento distribuido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9D8F5"/>
                </a:solidFill>
                <a:latin typeface="Calibri"/>
              </a:rPr>
              <a:t>• Contexto de 32K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9D8F5"/>
                </a:solidFill>
                <a:latin typeface="Calibri"/>
              </a:rPr>
              <a:t>• JEPA Hub multimodal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9D8F5"/>
                </a:solidFill>
                <a:latin typeface="Calibri"/>
              </a:rPr>
              <a:t>• Inferencia en dispositivos edge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81912" y="640080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7B6FF"/>
                </a:solidFill>
                <a:latin typeface="Arial"/>
              </a:rPr>
              <a:t>APRENDIZAJES</a:t>
            </a:r>
          </a:p>
        </p:txBody>
      </p:sp>
      <p:sp>
        <p:nvSpPr>
          <p:cNvPr id="3" name="Oval 2"/>
          <p:cNvSpPr/>
          <p:nvPr/>
        </p:nvSpPr>
        <p:spPr>
          <a:xfrm>
            <a:off x="804672" y="738378"/>
            <a:ext cx="86868" cy="86868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" y="747522"/>
            <a:ext cx="68580" cy="68580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738378"/>
            <a:ext cx="86868" cy="86868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781812"/>
            <a:ext cx="502920" cy="0"/>
          </a:xfrm>
          <a:prstGeom prst="rect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0241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Desafíos y aprendizajes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4572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C6B8A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64008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6B8A"/>
                </a:solidFill>
                <a:latin typeface="Calibri"/>
              </a:rPr>
              <a:t>IA LATAM · Comunidad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40080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B8A"/>
                </a:solidFill>
                <a:latin typeface="Calibri"/>
              </a:rPr>
              <a:t>Congreso AI LATAM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50000"/>
            <a:ext cx="10700000" cy="8000"/>
          </a:xfrm>
          <a:prstGeom prst="rect">
            <a:avLst/>
          </a:prstGeom>
          <a:solidFill>
            <a:srgbClr val="5C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7B6FF"/>
                </a:solidFill>
                <a:latin typeface="Arial"/>
              </a:rPr>
              <a:t>Desafíos superados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606040"/>
            <a:ext cx="137160" cy="137160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56032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9D8F5"/>
                </a:solidFill>
                <a:latin typeface="Calibri"/>
              </a:rPr>
              <a:t>Estabilidad del entrenamiento con SNN → warm-up progresivo de tasa de spikes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200399"/>
            <a:ext cx="137160" cy="137160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154679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9D8F5"/>
                </a:solidFill>
                <a:latin typeface="Calibri"/>
              </a:rPr>
              <a:t>Overflow en HSAQ con lotes grandes → normalización dinámica por capa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794759"/>
            <a:ext cx="137160" cy="137160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749039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9D8F5"/>
                </a:solidFill>
                <a:latin typeface="Calibri"/>
              </a:rPr>
              <a:t>Balance entre GQA y SSM → rutas de fusión aprendidas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389120"/>
            <a:ext cx="137160" cy="137160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34340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9D8F5"/>
                </a:solidFill>
                <a:latin typeface="Calibri"/>
              </a:rPr>
              <a:t>JEPA Hub sin colapso → SCA Predictor con regularización de entropía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0116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D566"/>
                </a:solidFill>
                <a:latin typeface="Arial"/>
              </a:rPr>
              <a:t>Aprendizajes clave</a:t>
            </a:r>
          </a:p>
        </p:txBody>
      </p:sp>
      <p:sp>
        <p:nvSpPr>
          <p:cNvPr id="22" name="Oval 21"/>
          <p:cNvSpPr/>
          <p:nvPr/>
        </p:nvSpPr>
        <p:spPr>
          <a:xfrm>
            <a:off x="6766560" y="2606040"/>
            <a:ext cx="137160" cy="13716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256032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9D8F5"/>
                </a:solidFill>
                <a:latin typeface="Calibri"/>
              </a:rPr>
              <a:t>HSAQ converge mejor que AdamW en modelos dispersos por diseño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3200399"/>
            <a:ext cx="137160" cy="13716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3154679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9D8F5"/>
                </a:solidFill>
                <a:latin typeface="Calibri"/>
              </a:rPr>
              <a:t>SNN + cuantización HSAQ tiene sinergia natural (&gt;70% sparsity combinada)</a:t>
            </a:r>
          </a:p>
        </p:txBody>
      </p:sp>
      <p:sp>
        <p:nvSpPr>
          <p:cNvPr id="26" name="Oval 25"/>
          <p:cNvSpPr/>
          <p:nvPr/>
        </p:nvSpPr>
        <p:spPr>
          <a:xfrm>
            <a:off x="6766560" y="3794759"/>
            <a:ext cx="137160" cy="13716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3749039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9D8F5"/>
                </a:solidFill>
                <a:latin typeface="Calibri"/>
              </a:rPr>
              <a:t>La predicción en espacio latente del JEPA evita el sobreajuste</a:t>
            </a:r>
          </a:p>
        </p:txBody>
      </p:sp>
      <p:sp>
        <p:nvSpPr>
          <p:cNvPr id="28" name="Oval 27"/>
          <p:cNvSpPr/>
          <p:nvPr/>
        </p:nvSpPr>
        <p:spPr>
          <a:xfrm>
            <a:off x="6766560" y="4389120"/>
            <a:ext cx="137160" cy="13716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434340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9D8F5"/>
                </a:solidFill>
                <a:latin typeface="Calibri"/>
              </a:rPr>
              <a:t>Arquitectura toroidal permite escalar sin rediseñar componentes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81912" y="640080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7B6FF"/>
                </a:solidFill>
                <a:latin typeface="Arial"/>
              </a:rPr>
              <a:t>CONCLUSIONES</a:t>
            </a:r>
          </a:p>
        </p:txBody>
      </p:sp>
      <p:sp>
        <p:nvSpPr>
          <p:cNvPr id="3" name="Oval 2"/>
          <p:cNvSpPr/>
          <p:nvPr/>
        </p:nvSpPr>
        <p:spPr>
          <a:xfrm>
            <a:off x="804672" y="738378"/>
            <a:ext cx="86868" cy="86868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" y="747522"/>
            <a:ext cx="68580" cy="68580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738378"/>
            <a:ext cx="86868" cy="86868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781812"/>
            <a:ext cx="502920" cy="0"/>
          </a:xfrm>
          <a:prstGeom prst="rect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0241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Tres ideas para recordar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4572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C6B8A"/>
                </a:solidFill>
                <a:latin typeface="Arial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64008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6B8A"/>
                </a:solidFill>
                <a:latin typeface="Calibri"/>
              </a:rPr>
              <a:t>IA LATAM · Comunidad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40080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B8A"/>
                </a:solidFill>
                <a:latin typeface="Calibri"/>
              </a:rPr>
              <a:t>Congreso AI LATAM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50000"/>
            <a:ext cx="10700000" cy="8000"/>
          </a:xfrm>
          <a:prstGeom prst="rect">
            <a:avLst/>
          </a:prstGeom>
          <a:solidFill>
            <a:srgbClr val="5C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011680"/>
            <a:ext cx="10698480" cy="105156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2148840"/>
            <a:ext cx="548640" cy="548640"/>
          </a:xfrm>
          <a:prstGeom prst="ellipse">
            <a:avLst/>
          </a:prstGeom>
          <a:solidFill>
            <a:srgbClr val="16265E"/>
          </a:solidFill>
          <a:ln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14884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B300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121408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Arquitectura Toroidal
JEPA-First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514600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9D8F5"/>
                </a:solidFill>
                <a:latin typeface="Calibri"/>
              </a:rPr>
              <a:t>Predicción abstracta en espacio latente con GQA, SNN y SSM integrados en un flujo recurrente que escala linealmente.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46120"/>
            <a:ext cx="10698480" cy="105156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3383280"/>
            <a:ext cx="548640" cy="548640"/>
          </a:xfrm>
          <a:prstGeom prst="ellipse">
            <a:avLst/>
          </a:prstGeom>
          <a:solidFill>
            <a:srgbClr val="16265E"/>
          </a:solidFill>
          <a:ln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3832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B300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355848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HSAQ &gt; AdamW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749040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9D8F5"/>
                </a:solidFill>
                <a:latin typeface="Calibri"/>
              </a:rPr>
              <a:t>Optimizador adaptativo con cuantización dinámica: 4.2× menos memoria, 1.8× más throughput y mejor precisión (loss 0.13 vs 0.31).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480560"/>
            <a:ext cx="10698480" cy="105156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5840" y="4617720"/>
            <a:ext cx="548640" cy="548640"/>
          </a:xfrm>
          <a:prstGeom prst="ellipse">
            <a:avLst/>
          </a:prstGeom>
          <a:solidFill>
            <a:srgbClr val="16265E"/>
          </a:solidFill>
          <a:ln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6177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B300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590288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Camino a 3B MoE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983480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9D8F5"/>
                </a:solidFill>
                <a:latin typeface="Calibri"/>
              </a:rPr>
              <a:t>Arquitectura probada a 1.34B con resultados sólidos. El diseño toroidal y la dispersión natural de SNN + HSAQ habilitan el escalado a MoE.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81912" y="640080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7B6FF"/>
                </a:solidFill>
                <a:latin typeface="Arial"/>
              </a:rPr>
              <a:t>PRÓXIMOS PASOS</a:t>
            </a:r>
          </a:p>
        </p:txBody>
      </p:sp>
      <p:sp>
        <p:nvSpPr>
          <p:cNvPr id="3" name="Oval 2"/>
          <p:cNvSpPr/>
          <p:nvPr/>
        </p:nvSpPr>
        <p:spPr>
          <a:xfrm>
            <a:off x="804672" y="738378"/>
            <a:ext cx="86868" cy="86868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" y="747522"/>
            <a:ext cx="68580" cy="68580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738378"/>
            <a:ext cx="86868" cy="86868"/>
          </a:xfrm>
          <a:prstGeom prst="ellipse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781812"/>
            <a:ext cx="502920" cy="0"/>
          </a:xfrm>
          <a:prstGeom prst="rect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0241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¿Qué sigue?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4572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C6B8A"/>
                </a:solidFill>
                <a:latin typeface="Arial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64008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6B8A"/>
                </a:solidFill>
                <a:latin typeface="Calibri"/>
              </a:rPr>
              <a:t>IA LATAM · Comunidad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40080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B8A"/>
                </a:solidFill>
                <a:latin typeface="Calibri"/>
              </a:rPr>
              <a:t>Congreso AI LATAM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50000"/>
            <a:ext cx="10700000" cy="8000"/>
          </a:xfrm>
          <a:prstGeom prst="rect">
            <a:avLst/>
          </a:prstGeom>
          <a:solidFill>
            <a:srgbClr val="5C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286000"/>
            <a:ext cx="2743200" cy="256032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2743200" cy="457200"/>
          </a:xfrm>
          <a:prstGeom prst="rect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70F2E"/>
                </a:solidFill>
                <a:latin typeface="Arial"/>
              </a:rPr>
              <a:t>Q3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Entrenamiento 3B MoE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7472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9D8F5"/>
                </a:solidFill>
                <a:latin typeface="Calibri"/>
              </a:rPr>
              <a:t>8 expertos, 48K contexto, HSAQ v2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2286000"/>
            <a:ext cx="2743200" cy="256032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2286000"/>
            <a:ext cx="2743200" cy="457200"/>
          </a:xfrm>
          <a:prstGeom prst="rect">
            <a:avLst/>
          </a:prstGeom>
          <a:solidFill>
            <a:srgbClr val="FFD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228600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70F2E"/>
                </a:solidFill>
                <a:latin typeface="Arial"/>
              </a:rPr>
              <a:t>Q4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0175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Benchmarks públicos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47472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9D8F5"/>
                </a:solidFill>
                <a:latin typeface="Calibri"/>
              </a:rPr>
              <a:t>MMLU, HellaSwag, ARC — comparación abierta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286000"/>
            <a:ext cx="2743200" cy="256032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2286000"/>
            <a:ext cx="2743200" cy="457200"/>
          </a:xfrm>
          <a:prstGeom prst="rect">
            <a:avLst/>
          </a:prstGeom>
          <a:solidFill>
            <a:srgbClr val="8F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28600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70F2E"/>
                </a:solidFill>
                <a:latin typeface="Arial"/>
              </a:rPr>
              <a:t>Q1 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0175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Open-source release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47472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9D8F5"/>
                </a:solidFill>
                <a:latin typeface="Calibri"/>
              </a:rPr>
              <a:t>Modelo base + fine-tuned bajo licencia abierta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59" y="2286000"/>
            <a:ext cx="2743200" cy="2560320"/>
          </a:xfrm>
          <a:prstGeom prst="roundRect">
            <a:avLst/>
          </a:prstGeom>
          <a:solidFill>
            <a:srgbClr val="16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09759" y="2286000"/>
            <a:ext cx="2743200" cy="457200"/>
          </a:xfrm>
          <a:prstGeom prst="rect">
            <a:avLst/>
          </a:prstGeom>
          <a:solidFill>
            <a:srgbClr val="4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59" y="228600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70F2E"/>
                </a:solidFill>
                <a:latin typeface="Arial"/>
              </a:rPr>
              <a:t>Q2 2027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39" y="30175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Optimización edge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39" y="347472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9D8F5"/>
                </a:solidFill>
                <a:latin typeface="Calibri"/>
              </a:rPr>
              <a:t>ONNX/TFLite con SNN+HSAQ cuantizado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3474720"/>
            <a:ext cx="320040" cy="36576"/>
          </a:xfrm>
          <a:prstGeom prst="rect">
            <a:avLst/>
          </a:prstGeom>
          <a:solidFill>
            <a:srgbClr val="5C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474720"/>
            <a:ext cx="320040" cy="36576"/>
          </a:xfrm>
          <a:prstGeom prst="rect">
            <a:avLst/>
          </a:prstGeom>
          <a:solidFill>
            <a:srgbClr val="5C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35440" y="3474720"/>
            <a:ext cx="320040" cy="36576"/>
          </a:xfrm>
          <a:prstGeom prst="rect">
            <a:avLst/>
          </a:prstGeom>
          <a:solidFill>
            <a:srgbClr val="5C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¡Gracias!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C9D8F5"/>
                </a:solidFill>
                <a:latin typeface="Calibri"/>
              </a:rPr>
              <a:t>¿Conversamos? Espacio para preguntas.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91840"/>
            <a:ext cx="2103120" cy="4572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D566"/>
                </a:solidFill>
                <a:latin typeface="Calibri"/>
              </a:rPr>
              <a:t>[Tu@correo.com]      ·      [@tu_usuario]      ·      [LinkedIn]</a:t>
            </a:r>
          </a:p>
        </p:txBody>
      </p:sp>
      <p:sp>
        <p:nvSpPr>
          <p:cNvPr id="6" name="Oval 5"/>
          <p:cNvSpPr/>
          <p:nvPr/>
        </p:nvSpPr>
        <p:spPr>
          <a:xfrm>
            <a:off x="5029200" y="4572000"/>
            <a:ext cx="548640" cy="548640"/>
          </a:xfrm>
          <a:prstGeom prst="ellipse">
            <a:avLst/>
          </a:prstGeom>
          <a:solidFill>
            <a:srgbClr val="16265E"/>
          </a:solidFill>
          <a:ln>
            <a:solidFill>
              <a:srgbClr val="47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760720" y="4572000"/>
            <a:ext cx="548640" cy="548640"/>
          </a:xfrm>
          <a:prstGeom prst="ellipse">
            <a:avLst/>
          </a:prstGeom>
          <a:solidFill>
            <a:srgbClr val="16265E"/>
          </a:solidFill>
          <a:ln>
            <a:solidFill>
              <a:srgbClr val="8F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92240" y="4572000"/>
            <a:ext cx="548640" cy="548640"/>
          </a:xfrm>
          <a:prstGeom prst="ellipse">
            <a:avLst/>
          </a:prstGeom>
          <a:solidFill>
            <a:srgbClr val="16265E"/>
          </a:solidFill>
          <a:ln>
            <a:solidFill>
              <a:srgbClr val="FFD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64008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6B8A"/>
                </a:solidFill>
                <a:latin typeface="Calibri"/>
              </a:rPr>
              <a:t>IA LATAM · Comunidad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40080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B8A"/>
                </a:solidFill>
                <a:latin typeface="Calibri"/>
              </a:rPr>
              <a:t>Congreso AI LATAM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50000"/>
            <a:ext cx="10700000" cy="8000"/>
          </a:xfrm>
          <a:prstGeom prst="rect">
            <a:avLst/>
          </a:prstGeom>
          <a:solidFill>
            <a:srgbClr val="5C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Congreso AI LATAM</dc:title>
  <dc:subject>PptxGenJS Presentation</dc:subject>
  <dc:creator>IA LATAM · Comunidad</dc:creator>
  <cp:lastModifiedBy>IA LATAM · Comunidad</cp:lastModifiedBy>
  <cp:revision>1</cp:revision>
  <dcterms:created xsi:type="dcterms:W3CDTF">2026-07-04T16:23:19Z</dcterms:created>
  <dcterms:modified xsi:type="dcterms:W3CDTF">2026-07-04T16:23:19Z</dcterms:modified>
</cp:coreProperties>
</file>