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A7A"/>
                </a:solidFill>
              </a:defRPr>
            </a:pPr>
            <a:r>
              <a:t>CONGRESO · INTELIGENCIA ARTIFICIAL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M.A.T.E.R.I.A.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</a:defRPr>
            </a:pPr>
            <a:r>
              <a:t>JEPA-First Architecture + SCA + HSAQ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Multi-Analytical Toroidal Engine for Recursive Intelligent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A7A"/>
                </a:solidFill>
              </a:defRPr>
            </a:pPr>
            <a:r>
              <a:t>Entrenamiento de modelos y cuantización HSAQ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A7A"/>
                </a:solidFill>
              </a:defRPr>
            </a:pPr>
            <a:r>
              <a:t>MethodWhite · M.A.T.E.R.I.A. Research · Santiago, Chile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A7A"/>
                </a:solidFill>
              </a:defRPr>
            </a:pPr>
            <a:r>
              <a:t>CHARLA MAGISTRAL · TRACK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Entrenamiento de Modelos M.A.T.E.R.I.A.</a:t>
            </a:r>
            <a:br/>
            <a:r>
              <a:t>y Cuantización HSAQ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90D9"/>
                </a:solidFill>
              </a:defRPr>
            </a:pPr>
            <a:r>
              <a:t>Cómo logramos 99% accuracy con 3.8M parámetros</a:t>
            </a:r>
            <a:br/>
            <a:r>
              <a:t>usando arquitectura multi-paradigma JEPA-First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B4D8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QUÉ ES M.A.T.E.R.I.A.?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</a:defRPr>
            </a:pPr>
            <a:r>
              <a:t>Un sistema de IA que integra múltiples paradigmas</a:t>
            </a:r>
            <a:br/>
            <a:r>
              <a:t>en una arquitectura unificada y eficiente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</a:defRPr>
            </a:pPr>
            <a:r>
              <a:t>01  Arquitectura V4: JEPA-First + SCA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</a:defRPr>
            </a:pPr>
            <a:r>
              <a:t>02  Entrenamiento: De 0 a 99% accuracy en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</a:defRPr>
            </a:pPr>
            <a:r>
              <a:t>03  HSAQ: Ejecución dispersa adaptativa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</a:defRPr>
            </a:pPr>
            <a:r>
              <a:t>04  Comparativa: M.A.T.E.R.I.A. vs GPT vs PaLM vs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</a:defRPr>
            </a:pPr>
            <a:r>
              <a:t>05  Demo: Generación con modelo entrenado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ARQUITECTURA V4: JEPA-FIRST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Flujo de datos: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1. Token Embedding (vocab → dim)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2. HSAQ Sparse Execution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3. Transformer Blocks (GQA + RoPE + SwiGLU)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4. SNN (LIF neuronas reales)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5. SSM (State Space Model)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   ↓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6. Concat [GQA, SNN, SSM]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7. JEPA Encoder → espacio latente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8. SCA Predictor (K = √π·e·γ)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9. Synapsis Memory (opcional)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10. RMSNorm → Head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Componentes clave: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GQA: 8 query heads, 4 KV heads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RoPE: codificación posicional rotatoria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SwiGLU: activación puerta adaptativa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LIF-SNN: neuronas de pulsos reales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SSM: procesamiento secuencias largas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JEPA: predicción en espacio latente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SCA: descomposición espectral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HSAQ: 30% sparsity adaptativa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K = 2.781042 (peso JEPA)</a:t>
            </a:r>
          </a:p>
          <a:p>
            <a:pPr>
              <a:spcAft>
                <a:spcPts val="359"/>
              </a:spcAft>
              <a:defRPr sz="1200">
                <a:solidFill>
                  <a:srgbClr val="4A90D9"/>
                </a:solidFill>
              </a:defRPr>
            </a:pPr>
            <a:r>
              <a:t>Loss = token_loss + K × jepa_loss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M.A.T.E.R.I.A. vs OTRAS ARQUITECTURAS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GPT-4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PaLM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M.A.T.E.R.I.A. V4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Parámetros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~1.8T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540B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1.5T+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4.7M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10K GPUs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6144 TPUv4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Multi-TPU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CPU solo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SNN integration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Sí (LIF real)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JEPA + SCA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Sí (K=2.78)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HSAQ sparsity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Sí (30%)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(val)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~86%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~67%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99.03%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Costo entrenamiento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~$100M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~$12M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~$50M+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&lt;$1 (CPU)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HSAQ: EJECUCIÓN DISPERSA ADAPTATIVA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ECC71"/>
                </a:solidFill>
                <a:latin typeface="Consolas"/>
              </a:defRPr>
            </a:pPr>
            <a:r>
              <a:t># HSAQ: Solo neuronas relevantes pasan</a:t>
            </a:r>
          </a:p>
          <a:p>
            <a:pPr>
              <a:defRPr sz="1200">
                <a:solidFill>
                  <a:srgbClr val="2ECC71"/>
                </a:solidFill>
                <a:latin typeface="Consolas"/>
              </a:defRPr>
            </a:pPr>
            <a:r>
              <a:t>flat = x.abs().view(B, -1)</a:t>
            </a:r>
          </a:p>
          <a:p>
            <a:pPr>
              <a:defRPr sz="1200">
                <a:solidFill>
                  <a:srgbClr val="2ECC71"/>
                </a:solidFill>
                <a:latin typeface="Consolas"/>
              </a:defRPr>
            </a:pPr>
            <a:r>
              <a:t>k = n * (1 - sparsity)  # Top-70%</a:t>
            </a:r>
          </a:p>
          <a:p>
            <a:pPr>
              <a:defRPr sz="1200">
                <a:solidFill>
                  <a:srgbClr val="2ECC71"/>
                </a:solidFill>
                <a:latin typeface="Consolas"/>
              </a:defRPr>
            </a:pPr>
            <a:r>
              <a:t>thresh = torch.kthvalue(flat, k)</a:t>
            </a:r>
          </a:p>
          <a:p>
            <a:pPr>
              <a:defRPr sz="1200">
                <a:solidFill>
                  <a:srgbClr val="2ECC71"/>
                </a:solidFill>
                <a:latin typeface="Consolas"/>
              </a:defRPr>
            </a:pPr>
            <a:r>
              <a:t>mask = x.abs() &gt;= thresh</a:t>
            </a:r>
          </a:p>
          <a:p>
            <a:pPr>
              <a:defRPr sz="1200">
                <a:solidFill>
                  <a:srgbClr val="2ECC71"/>
                </a:solidFill>
                <a:latin typeface="Consolas"/>
              </a:defRPr>
            </a:pPr>
            <a:r>
              <a:t>return x * mask  # 30% →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Ventajas:</a:t>
            </a: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✓ Adaptativo por batch (umbral dinámico)</a:t>
            </a: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✓ Gradiente fluye (entrenable end-to-end)</a:t>
            </a: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✓ Hardware-agnostic (CPU/GPU/TPU)</a:t>
            </a: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✓ 30% menos cómputo, misma accuracy</a:t>
            </a: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✓ Sin post-processing</a:t>
            </a: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vs TurboQuant (Google):</a:t>
            </a: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✗ TurboQuant: cuantización fija post-training</a:t>
            </a:r>
          </a:p>
          <a:p>
            <a:pPr>
              <a:spcAft>
                <a:spcPts val="359"/>
              </a:spcAft>
              <a:defRPr sz="1200">
                <a:solidFill>
                  <a:srgbClr val="FFFFFF"/>
                </a:solidFill>
              </a:defRPr>
            </a:pPr>
            <a:r>
              <a:t>✗ HSAQ: ejecución dispersa adaptativa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PIPELINE DE ENTRENAMIENTO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1. Recolección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90D9"/>
                </a:solidFill>
              </a:defRPr>
            </a:pPr>
            <a:r>
              <a:t>C4 EN (773MB) + Wikipedia 12 idiomas</a:t>
            </a:r>
            <a:br/>
            <a:r>
              <a:t>Streaming desde HuggingFace, 80K textos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2. Tokenización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59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90D9"/>
                </a:solidFill>
              </a:defRPr>
            </a:pPr>
            <a:r>
              <a:t>Char-level (258 tokens) o BPE (32K)</a:t>
            </a:r>
            <a:br/>
            <a:r>
              <a:t>SentencePiece multilingüe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3. Entrenamiento JEPA-First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90D9"/>
                </a:solidFill>
              </a:defRPr>
            </a:pPr>
            <a:r>
              <a:t>Loss dual: token_loss + K × jepa_loss</a:t>
            </a:r>
            <a:br/>
            <a:r>
              <a:t>K = 2.781042 (coupling geometría-entropía)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4. HSAQ Compresión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90D9"/>
                </a:solidFill>
              </a:defRPr>
            </a:pPr>
            <a:r>
              <a:t>Sparsity 30% adaptativa</a:t>
            </a:r>
            <a:br/>
            <a:r>
              <a:t>Encoder FP16, Predictor INT8, Decoder INT8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5. Exportación .materia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90D9"/>
                </a:solidFill>
              </a:defRPr>
            </a:pPr>
            <a:r>
              <a:t>Pesos numpy + metadatos + config</a:t>
            </a:r>
            <a:br/>
            <a:r>
              <a:t>Listo para inferencia en CPU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SIN vs CON SYNAPSIS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Sin Synapsis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 Synapsis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Loss (epoch 1)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83.6%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Convergencia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~500 batches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Lenta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Repetición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Sí ("the the the")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Spike rate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0.048 (activo)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0.035 (bajo)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Uso recomendado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Entrenamiento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Inferencia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90D9"/>
                </a:solidFill>
              </a:defRPr>
            </a:pPr>
            <a:r>
              <a:t>Conclusión: Synapsis causa maldición de repetición durante entrenamiento.</a:t>
            </a:r>
            <a:br/>
            <a:r>
              <a:t>Usar sin Synapsis para training, con Synapsis para inference.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RESULTADOS DE ENTRENAMIENTO</a:t>
            </a:r>
          </a:p>
        </p:txBody>
      </p:sp>
      <p:pic>
        <p:nvPicPr>
          <p:cNvPr id="3" name="Picture 2" descr="comparative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ECOSISTEMA DE MODELOS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2D5B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materia-v4-base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4.7M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C4 EN 80K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Base V4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materia-v3.basemateria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3.5M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C4 EN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0.032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Base V3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materia-v3-full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4.8M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C4 EN 15K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0.033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General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materia-v3-nano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0.6M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C4 EN 1K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0.047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98.9%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Edge/IoT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science-v3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2.3M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Reasoning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0.031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Científico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¿POR QUÉ ES TAN INTELIGENTE?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Integración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8 paradigmas entrenables juntos.</a:t>
            </a:r>
            <a:br/>
            <a:r>
              <a:t>El gradiente fluye por toda la arquitectura.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JEPA-First: predicción en espacio latente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K = 2.781042 como peso.</a:t>
            </a:r>
            <a:br/>
            <a:r>
              <a:t>Coupling geometría-entropía.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SNN real, no aproximación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Neuronas LIF con dinámica de membrana.</a:t>
            </a:r>
            <a:br/>
            <a:r>
              <a:t>Spike rate estable ~0.04.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HSAQ: eficiencia sin pérdida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30% sparsity adaptativa.</a:t>
            </a:r>
            <a:br/>
            <a:r>
              <a:t>Misma accuracy, menor costo.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¿QUÉ ESPERAR DE 1B+ PARÁMETROS?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Razonamiento complejo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Cadena de pensamiento nativa.</a:t>
            </a:r>
            <a:br/>
            <a:r>
              <a:t>Inferencia multi-paso.</a:t>
            </a:r>
            <a:br/>
            <a:r>
              <a:t>Resolución matemática.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Comprensión profunda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Contexto 4K-8K tokens.</a:t>
            </a:r>
            <a:br/>
            <a:r>
              <a:t>Retención a largo plazo.</a:t>
            </a:r>
            <a:br/>
            <a:r>
              <a:t>Respuestas coherentes.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Multimodalidad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Texto + imagen + audio.</a:t>
            </a:r>
            <a:br/>
            <a:r>
              <a:t>Mismo pipeline HSAQ.</a:t>
            </a:r>
            <a:br/>
            <a:r>
              <a:t>Mantenimiento de eficiencia.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Edge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90D9"/>
                </a:solidFill>
              </a:defRPr>
            </a:pPr>
            <a:r>
              <a:t>1B params → ~2GB FP16.</a:t>
            </a:r>
            <a:br/>
            <a:r>
              <a:t>~1.4GB con HSAQ 30%.</a:t>
            </a:r>
            <a:br/>
            <a:r>
              <a:t>Viable en CPU.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"La inteligencia artificial no necesita ser masiva</a:t>
            </a:r>
            <a:br/>
            <a:r>
              <a:t>para ser efectiva. M.A.T.E.R.I.A. demuestra que</a:t>
            </a:r>
            <a:br/>
            <a:r>
              <a:t>la integración inteligente supera al escalado bruto."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A7A"/>
                </a:solidFill>
              </a:defRPr>
            </a:pPr>
            <a:r>
              <a:t>MethodWhite  ·  M.A.T.E.R.I.A. Research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DATOS QUE RESPALDAN EL MENSAJE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</a:defRPr>
            </a:pPr>
            <a:r>
              <a:t>4.7M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</a:defRPr>
            </a:pPr>
            <a:r>
              <a:t>Parámetros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</a:defRPr>
            </a:pPr>
            <a:r>
              <a:t>99.0%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371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</a:defRPr>
            </a:pPr>
            <a:r>
              <a:t>Costo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</a:defRPr>
            </a:pPr>
            <a:r>
              <a:t>Paradigmas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</a:defRPr>
            </a:pPr>
            <a: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029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</a:defRPr>
            </a:pPr>
            <a:r>
              <a:t>Ahorro HSAQ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</a:defRPr>
            </a:pPr>
            <a:r>
              <a:t>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029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</a:defRPr>
            </a:pPr>
            <a:r>
              <a:t>Entrenamiento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PARA LLEVAR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90D9"/>
                </a:solidFill>
              </a:defRPr>
            </a:pPr>
            <a:r>
              <a:t>1. La integración multi-paradigma supera al escalado bruto.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90D9"/>
                </a:solidFill>
              </a:defRPr>
            </a:pPr>
            <a:r>
              <a:t>2. HSAQ permite ejecución eficiente sin pérdida de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90D9"/>
                </a:solidFill>
              </a:defRPr>
            </a:pPr>
            <a:r>
              <a:t>3. JEPA-First + SCA es la clave del rendimiento V4.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90D9"/>
                </a:solidFill>
              </a:defRPr>
            </a:pPr>
            <a:r>
              <a:t>4. Synapsis causa repetición — usar solo para inference.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90D9"/>
                </a:solidFill>
              </a:defRPr>
            </a:pPr>
            <a:r>
              <a:t>5. El futuro está en modelos pequeños pero inteligentes.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B4D8"/>
                </a:solidFill>
              </a:defRPr>
            </a:pPr>
            <a: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¿Conversamos? Espacio para preguntas.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A7A"/>
                </a:solidFill>
              </a:defRPr>
            </a:pPr>
            <a:r>
              <a:t>github.com/methodwhite/MATERIA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Congreso AI LATAM</dc:title>
  <dc:subject>PptxGenJS Presentation</dc:subject>
  <dc:creator>IA LATAM · Comunidad</dc:creator>
  <cp:lastModifiedBy>IA LATAM · Comunidad</cp:lastModifiedBy>
  <cp:revision>1</cp:revision>
  <dcterms:created xsi:type="dcterms:W3CDTF">2026-07-04T16:23:19Z</dcterms:created>
  <dcterms:modified xsi:type="dcterms:W3CDTF">2026-07-04T16:23:19Z</dcterms:modified>
</cp:coreProperties>
</file>